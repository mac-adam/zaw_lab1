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09C4CB-622A-91AE-D0C2-455D49840FF9}" v="575" dt="2026-03-30T19:11:40.838"/>
    <p1510:client id="{71FBCA0F-AE17-EA72-38ED-A193A133C02C}" v="2" dt="2026-03-30T17:58:32.008"/>
    <p1510:client id="{E390DA56-01C7-4310-EB14-A49812E059CD}" v="414" dt="2026-03-30T19:09:04.1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463146CE-53BD-E763-C226-2EB743596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" y="2243136"/>
            <a:ext cx="2366530" cy="2378653"/>
          </a:xfrm>
          <a:prstGeom prst="rect">
            <a:avLst/>
          </a:prstGeom>
        </p:spPr>
      </p:pic>
      <p:pic>
        <p:nvPicPr>
          <p:cNvPr id="3" name="Obraz 2" descr="Obraz zawierający Grafika, Szablon, czarne i białe, sylwetka&#10;&#10;Zawartość wygenerowana przez AI może być niepoprawna.">
            <a:extLst>
              <a:ext uri="{FF2B5EF4-FFF2-40B4-BE49-F238E27FC236}">
                <a16:creationId xmlns:a16="http://schemas.microsoft.com/office/drawing/2014/main" id="{243B106D-3B4C-A94B-3C69-D7D5283F6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191" y="167200"/>
            <a:ext cx="1483132" cy="1456171"/>
          </a:xfrm>
          <a:prstGeom prst="rect">
            <a:avLst/>
          </a:prstGeom>
        </p:spPr>
      </p:pic>
      <p:pic>
        <p:nvPicPr>
          <p:cNvPr id="5" name="Obraz 4" descr="Obraz zawierający Grafika, czarne, sylwetka, czarne i białe&#10;&#10;Zawartość wygenerowana przez AI może być niepoprawna.">
            <a:extLst>
              <a:ext uri="{FF2B5EF4-FFF2-40B4-BE49-F238E27FC236}">
                <a16:creationId xmlns:a16="http://schemas.microsoft.com/office/drawing/2014/main" id="{00151329-FF46-1D29-3133-B9578B923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531" y="3457094"/>
            <a:ext cx="1390650" cy="990600"/>
          </a:xfrm>
          <a:prstGeom prst="rect">
            <a:avLst/>
          </a:prstGeom>
        </p:spPr>
      </p:pic>
      <p:pic>
        <p:nvPicPr>
          <p:cNvPr id="6" name="Obraz 5" descr="Obraz zawierający Grafika, krąg, czarne, czarne i białe&#10;&#10;Zawartość wygenerowana przez AI może być niepoprawna.">
            <a:extLst>
              <a:ext uri="{FF2B5EF4-FFF2-40B4-BE49-F238E27FC236}">
                <a16:creationId xmlns:a16="http://schemas.microsoft.com/office/drawing/2014/main" id="{9FE91549-0F15-B0DE-4C45-D405FB26A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741" y="2008663"/>
            <a:ext cx="1000125" cy="1162050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AD5517C7-2783-0D19-80CB-0B5FD38BF2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9844" y="4731910"/>
            <a:ext cx="1724025" cy="1762125"/>
          </a:xfrm>
          <a:prstGeom prst="rect">
            <a:avLst/>
          </a:prstGeom>
        </p:spPr>
      </p:pic>
      <p:pic>
        <p:nvPicPr>
          <p:cNvPr id="9" name="Obraz 8" descr="Obraz zawierający logo, czarne&#10;&#10;Zawartość wygenerowana przez AI może być niepoprawna.">
            <a:extLst>
              <a:ext uri="{FF2B5EF4-FFF2-40B4-BE49-F238E27FC236}">
                <a16:creationId xmlns:a16="http://schemas.microsoft.com/office/drawing/2014/main" id="{39FCB382-BF45-5BBD-F224-61F4EF9A50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1094" y="3435927"/>
            <a:ext cx="1436039" cy="999066"/>
          </a:xfrm>
          <a:prstGeom prst="rect">
            <a:avLst/>
          </a:prstGeom>
        </p:spPr>
      </p:pic>
      <p:pic>
        <p:nvPicPr>
          <p:cNvPr id="10" name="Obraz 9" descr="Obraz zawierający ciemność, czarne, czarne i białe&#10;&#10;Zawartość wygenerowana przez AI może być niepoprawna.">
            <a:extLst>
              <a:ext uri="{FF2B5EF4-FFF2-40B4-BE49-F238E27FC236}">
                <a16:creationId xmlns:a16="http://schemas.microsoft.com/office/drawing/2014/main" id="{ABE604D4-F074-07CB-AC23-CD8DDF6963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1140" y="165470"/>
            <a:ext cx="1576651" cy="1459634"/>
          </a:xfrm>
          <a:prstGeom prst="rect">
            <a:avLst/>
          </a:prstGeom>
        </p:spPr>
      </p:pic>
      <p:pic>
        <p:nvPicPr>
          <p:cNvPr id="11" name="Obraz 10" descr="Obraz zawierający czarne&#10;&#10;Zawartość wygenerowana przez AI może być niepoprawna.">
            <a:extLst>
              <a:ext uri="{FF2B5EF4-FFF2-40B4-BE49-F238E27FC236}">
                <a16:creationId xmlns:a16="http://schemas.microsoft.com/office/drawing/2014/main" id="{B5A23AA5-6A6E-6816-A11B-193932BB49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5344" y="4738718"/>
            <a:ext cx="2295407" cy="1762361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5234FE54-B876-8823-E8F1-B2BAEFB198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421" y="507475"/>
            <a:ext cx="2291689" cy="2417640"/>
          </a:xfrm>
          <a:prstGeom prst="rect">
            <a:avLst/>
          </a:prstGeom>
        </p:spPr>
      </p:pic>
      <p:pic>
        <p:nvPicPr>
          <p:cNvPr id="13" name="Obraz 12" descr="Obraz zawierający kreskówka, Grafika, clipart, Szablon&#10;&#10;Zawartość wygenerowana przez AI może być niepoprawna.">
            <a:extLst>
              <a:ext uri="{FF2B5EF4-FFF2-40B4-BE49-F238E27FC236}">
                <a16:creationId xmlns:a16="http://schemas.microsoft.com/office/drawing/2014/main" id="{B5A85A7D-0379-7C09-4A3E-BB32543699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8384" y="3462032"/>
            <a:ext cx="2291196" cy="25388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9415E6-0CBF-2AEF-BE08-8E581B64E626}"/>
              </a:ext>
            </a:extLst>
          </p:cNvPr>
          <p:cNvSpPr txBox="1"/>
          <p:nvPr/>
        </p:nvSpPr>
        <p:spPr>
          <a:xfrm>
            <a:off x="5469062" y="1621877"/>
            <a:ext cx="166528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+mn-lt"/>
                <a:cs typeface="+mn-lt"/>
              </a:rPr>
              <a:t>Ubytki</a:t>
            </a:r>
            <a:r>
              <a:rPr lang="en-US" sz="1400">
                <a:ea typeface="+mn-lt"/>
                <a:cs typeface="+mn-lt"/>
              </a:rPr>
              <a:t> w </a:t>
            </a:r>
            <a:r>
              <a:rPr lang="en-US" sz="1400" err="1">
                <a:ea typeface="+mn-lt"/>
                <a:cs typeface="+mn-lt"/>
              </a:rPr>
              <a:t>izolacji</a:t>
            </a:r>
            <a:r>
              <a:rPr lang="en-US" sz="1400">
                <a:ea typeface="+mn-lt"/>
                <a:cs typeface="+mn-lt"/>
              </a:rPr>
              <a:t> </a:t>
            </a:r>
            <a:endParaRPr 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0FEBE-D285-7DC9-D67B-D217C7BE6306}"/>
              </a:ext>
            </a:extLst>
          </p:cNvPr>
          <p:cNvSpPr txBox="1"/>
          <p:nvPr/>
        </p:nvSpPr>
        <p:spPr>
          <a:xfrm>
            <a:off x="3211285" y="3164691"/>
            <a:ext cx="13924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+mn-lt"/>
                <a:cs typeface="+mn-lt"/>
              </a:rPr>
              <a:t>Niebieska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żyła</a:t>
            </a:r>
            <a:endParaRPr lang="en-US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C96A16-96A3-99BA-28D2-CB9E0B1EFC13}"/>
              </a:ext>
            </a:extLst>
          </p:cNvPr>
          <p:cNvSpPr txBox="1"/>
          <p:nvPr/>
        </p:nvSpPr>
        <p:spPr>
          <a:xfrm>
            <a:off x="3408840" y="4425282"/>
            <a:ext cx="13924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+mn-lt"/>
                <a:cs typeface="+mn-lt"/>
              </a:rPr>
              <a:t>Żółta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żyła</a:t>
            </a:r>
            <a:endParaRPr lang="en-US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13FB87-D9D7-9C74-3F73-7C81FFE05E1D}"/>
              </a:ext>
            </a:extLst>
          </p:cNvPr>
          <p:cNvSpPr txBox="1"/>
          <p:nvPr/>
        </p:nvSpPr>
        <p:spPr>
          <a:xfrm>
            <a:off x="3051360" y="6494912"/>
            <a:ext cx="172172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/>
              <a:t>Miedziane</a:t>
            </a:r>
            <a:r>
              <a:rPr lang="en-US" sz="1400"/>
              <a:t> </a:t>
            </a:r>
            <a:r>
              <a:rPr lang="en-US" sz="1400" err="1"/>
              <a:t>rdzenie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799998-3174-9DAF-6E26-517309ADFF3B}"/>
              </a:ext>
            </a:extLst>
          </p:cNvPr>
          <p:cNvSpPr txBox="1"/>
          <p:nvPr/>
        </p:nvSpPr>
        <p:spPr>
          <a:xfrm>
            <a:off x="3173655" y="1621876"/>
            <a:ext cx="166528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+mn-lt"/>
                <a:cs typeface="+mn-lt"/>
              </a:rPr>
              <a:t>Detekcja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izolacji</a:t>
            </a:r>
            <a:r>
              <a:rPr lang="en-US" sz="1400">
                <a:ea typeface="+mn-lt"/>
                <a:cs typeface="+mn-lt"/>
              </a:rPr>
              <a:t> </a:t>
            </a:r>
            <a:endParaRPr lang="en-US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0A38D7-13D2-17FC-6341-9281908777A6}"/>
              </a:ext>
            </a:extLst>
          </p:cNvPr>
          <p:cNvSpPr txBox="1"/>
          <p:nvPr/>
        </p:nvSpPr>
        <p:spPr>
          <a:xfrm>
            <a:off x="5073952" y="6494912"/>
            <a:ext cx="306698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/>
              <a:t>Wykrycie</a:t>
            </a:r>
            <a:r>
              <a:rPr lang="en-US" sz="1400"/>
              <a:t> </a:t>
            </a:r>
            <a:r>
              <a:rPr lang="en-US" sz="1400" err="1"/>
              <a:t>nieregularnego</a:t>
            </a:r>
            <a:r>
              <a:rPr lang="en-US" sz="1400"/>
              <a:t> </a:t>
            </a:r>
            <a:r>
              <a:rPr lang="en-US" sz="1400" err="1"/>
              <a:t>kształtu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75EA96-D297-1CEF-7E2F-9CF5D3B3E668}"/>
              </a:ext>
            </a:extLst>
          </p:cNvPr>
          <p:cNvCxnSpPr/>
          <p:nvPr/>
        </p:nvCxnSpPr>
        <p:spPr>
          <a:xfrm flipV="1">
            <a:off x="4114386" y="1388984"/>
            <a:ext cx="1783578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D0ADEAD-A703-41AF-249B-A44A3F581E77}"/>
              </a:ext>
            </a:extLst>
          </p:cNvPr>
          <p:cNvCxnSpPr>
            <a:cxnSpLocks/>
          </p:cNvCxnSpPr>
          <p:nvPr/>
        </p:nvCxnSpPr>
        <p:spPr>
          <a:xfrm flipV="1">
            <a:off x="4340163" y="5217799"/>
            <a:ext cx="1435504" cy="377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4B5F02B-EC9A-9B37-B7CC-B379360AD778}"/>
              </a:ext>
            </a:extLst>
          </p:cNvPr>
          <p:cNvCxnSpPr>
            <a:cxnSpLocks/>
          </p:cNvCxnSpPr>
          <p:nvPr/>
        </p:nvCxnSpPr>
        <p:spPr>
          <a:xfrm flipV="1">
            <a:off x="3719275" y="4004243"/>
            <a:ext cx="2479726" cy="565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AC95FBA-FA74-459B-6C0A-6C5ABD3E568B}"/>
              </a:ext>
            </a:extLst>
          </p:cNvPr>
          <p:cNvSpPr txBox="1"/>
          <p:nvPr/>
        </p:nvSpPr>
        <p:spPr>
          <a:xfrm>
            <a:off x="5610173" y="4350025"/>
            <a:ext cx="166528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+mn-lt"/>
                <a:cs typeface="+mn-lt"/>
              </a:rPr>
              <a:t>Ubytki</a:t>
            </a:r>
            <a:r>
              <a:rPr lang="en-US" sz="1400">
                <a:ea typeface="+mn-lt"/>
                <a:cs typeface="+mn-lt"/>
              </a:rPr>
              <a:t> </a:t>
            </a:r>
            <a:r>
              <a:rPr lang="en-US" sz="1400" err="1">
                <a:ea typeface="+mn-lt"/>
                <a:cs typeface="+mn-lt"/>
              </a:rPr>
              <a:t>żółtej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żyły</a:t>
            </a:r>
            <a:endParaRPr lang="en-US" sz="1400" err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0F8573-1E3C-8A94-ECBA-0C1B8BA95FCA}"/>
              </a:ext>
            </a:extLst>
          </p:cNvPr>
          <p:cNvSpPr txBox="1"/>
          <p:nvPr/>
        </p:nvSpPr>
        <p:spPr>
          <a:xfrm>
            <a:off x="9645950" y="3014172"/>
            <a:ext cx="166528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Prediction mask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EAC977-465D-4CA4-C5ED-53A0736A148A}"/>
              </a:ext>
            </a:extLst>
          </p:cNvPr>
          <p:cNvSpPr txBox="1"/>
          <p:nvPr/>
        </p:nvSpPr>
        <p:spPr>
          <a:xfrm>
            <a:off x="9768246" y="6184468"/>
            <a:ext cx="124194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Ground truth</a:t>
            </a:r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CE6BF6F9-C1CA-DB0A-B1B3-6BC184CC3A51}"/>
              </a:ext>
            </a:extLst>
          </p:cNvPr>
          <p:cNvSpPr txBox="1"/>
          <p:nvPr/>
        </p:nvSpPr>
        <p:spPr>
          <a:xfrm>
            <a:off x="221672" y="4731327"/>
            <a:ext cx="20920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Obraz wejściowy</a:t>
            </a:r>
          </a:p>
        </p:txBody>
      </p:sp>
      <p:cxnSp>
        <p:nvCxnSpPr>
          <p:cNvPr id="29" name="Straight Arrow Connector 20">
            <a:extLst>
              <a:ext uri="{FF2B5EF4-FFF2-40B4-BE49-F238E27FC236}">
                <a16:creationId xmlns:a16="http://schemas.microsoft.com/office/drawing/2014/main" id="{ABD42284-8B32-F7BC-36FA-DB3C7168BAB4}"/>
              </a:ext>
            </a:extLst>
          </p:cNvPr>
          <p:cNvCxnSpPr>
            <a:cxnSpLocks/>
          </p:cNvCxnSpPr>
          <p:nvPr/>
        </p:nvCxnSpPr>
        <p:spPr>
          <a:xfrm flipV="1">
            <a:off x="1752185" y="952566"/>
            <a:ext cx="1444142" cy="1136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0">
            <a:extLst>
              <a:ext uri="{FF2B5EF4-FFF2-40B4-BE49-F238E27FC236}">
                <a16:creationId xmlns:a16="http://schemas.microsoft.com/office/drawing/2014/main" id="{38E05ECC-10A1-73D3-D216-087EC5AF0BAF}"/>
              </a:ext>
            </a:extLst>
          </p:cNvPr>
          <p:cNvCxnSpPr>
            <a:cxnSpLocks/>
          </p:cNvCxnSpPr>
          <p:nvPr/>
        </p:nvCxnSpPr>
        <p:spPr>
          <a:xfrm flipV="1">
            <a:off x="2479549" y="2566620"/>
            <a:ext cx="820688" cy="1456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20">
            <a:extLst>
              <a:ext uri="{FF2B5EF4-FFF2-40B4-BE49-F238E27FC236}">
                <a16:creationId xmlns:a16="http://schemas.microsoft.com/office/drawing/2014/main" id="{13846932-3F5C-DA09-A440-CAA080AFBA48}"/>
              </a:ext>
            </a:extLst>
          </p:cNvPr>
          <p:cNvCxnSpPr>
            <a:cxnSpLocks/>
          </p:cNvCxnSpPr>
          <p:nvPr/>
        </p:nvCxnSpPr>
        <p:spPr>
          <a:xfrm>
            <a:off x="2479549" y="3966069"/>
            <a:ext cx="730634" cy="1799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20">
            <a:extLst>
              <a:ext uri="{FF2B5EF4-FFF2-40B4-BE49-F238E27FC236}">
                <a16:creationId xmlns:a16="http://schemas.microsoft.com/office/drawing/2014/main" id="{C64C6304-A362-A391-130B-AE7B3A6DFB66}"/>
              </a:ext>
            </a:extLst>
          </p:cNvPr>
          <p:cNvCxnSpPr>
            <a:cxnSpLocks/>
          </p:cNvCxnSpPr>
          <p:nvPr/>
        </p:nvCxnSpPr>
        <p:spPr>
          <a:xfrm>
            <a:off x="2334076" y="4672650"/>
            <a:ext cx="689070" cy="11428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5BEC342A-9CDB-B7F1-7B29-416F8F3A6B10}"/>
              </a:ext>
            </a:extLst>
          </p:cNvPr>
          <p:cNvSpPr txBox="1"/>
          <p:nvPr/>
        </p:nvSpPr>
        <p:spPr>
          <a:xfrm>
            <a:off x="1302327" y="-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Podział na maski</a:t>
            </a:r>
          </a:p>
        </p:txBody>
      </p:sp>
      <p:cxnSp>
        <p:nvCxnSpPr>
          <p:cNvPr id="34" name="Straight Arrow Connector 20">
            <a:extLst>
              <a:ext uri="{FF2B5EF4-FFF2-40B4-BE49-F238E27FC236}">
                <a16:creationId xmlns:a16="http://schemas.microsoft.com/office/drawing/2014/main" id="{24A43F63-4C06-EF2D-6ADB-B4061D9E576B}"/>
              </a:ext>
            </a:extLst>
          </p:cNvPr>
          <p:cNvCxnSpPr>
            <a:cxnSpLocks/>
          </p:cNvCxnSpPr>
          <p:nvPr/>
        </p:nvCxnSpPr>
        <p:spPr>
          <a:xfrm>
            <a:off x="7016913" y="1423760"/>
            <a:ext cx="1977541" cy="166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20">
            <a:extLst>
              <a:ext uri="{FF2B5EF4-FFF2-40B4-BE49-F238E27FC236}">
                <a16:creationId xmlns:a16="http://schemas.microsoft.com/office/drawing/2014/main" id="{5D2938DD-83D9-1D2D-6B9D-E36951BCD26F}"/>
              </a:ext>
            </a:extLst>
          </p:cNvPr>
          <p:cNvCxnSpPr>
            <a:cxnSpLocks/>
          </p:cNvCxnSpPr>
          <p:nvPr/>
        </p:nvCxnSpPr>
        <p:spPr>
          <a:xfrm flipV="1">
            <a:off x="7155457" y="2552765"/>
            <a:ext cx="1942906" cy="1357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20">
            <a:extLst>
              <a:ext uri="{FF2B5EF4-FFF2-40B4-BE49-F238E27FC236}">
                <a16:creationId xmlns:a16="http://schemas.microsoft.com/office/drawing/2014/main" id="{2D69D7F7-20E1-8F4B-53D1-61470E7C5FFA}"/>
              </a:ext>
            </a:extLst>
          </p:cNvPr>
          <p:cNvCxnSpPr>
            <a:cxnSpLocks/>
          </p:cNvCxnSpPr>
          <p:nvPr/>
        </p:nvCxnSpPr>
        <p:spPr>
          <a:xfrm flipV="1">
            <a:off x="7626510" y="2684383"/>
            <a:ext cx="1534198" cy="2944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pole tekstowe 36">
            <a:extLst>
              <a:ext uri="{FF2B5EF4-FFF2-40B4-BE49-F238E27FC236}">
                <a16:creationId xmlns:a16="http://schemas.microsoft.com/office/drawing/2014/main" id="{E942A6A1-0DD4-0872-7DA6-F7D3077B32B3}"/>
              </a:ext>
            </a:extLst>
          </p:cNvPr>
          <p:cNvSpPr txBox="1"/>
          <p:nvPr/>
        </p:nvSpPr>
        <p:spPr>
          <a:xfrm>
            <a:off x="7273636" y="782782"/>
            <a:ext cx="21197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Łączenie w finalną detekcję</a:t>
            </a: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krąg, zrzut ekranu&#10;&#10;Zawartość wygenerowana przez AI może być niepoprawna.">
            <a:extLst>
              <a:ext uri="{FF2B5EF4-FFF2-40B4-BE49-F238E27FC236}">
                <a16:creationId xmlns:a16="http://schemas.microsoft.com/office/drawing/2014/main" id="{CC8524FF-BDAF-50B1-7316-8AC6C0F6D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12" y="467585"/>
            <a:ext cx="4796852" cy="1588177"/>
          </a:xfrm>
          <a:prstGeom prst="rect">
            <a:avLst/>
          </a:prstGeom>
        </p:spPr>
      </p:pic>
      <p:pic>
        <p:nvPicPr>
          <p:cNvPr id="6" name="Obraz 5" descr="Obraz zawierający zrzut ekranu, krąg, sztuka&#10;&#10;Zawartość wygenerowana przez AI może być niepoprawna.">
            <a:extLst>
              <a:ext uri="{FF2B5EF4-FFF2-40B4-BE49-F238E27FC236}">
                <a16:creationId xmlns:a16="http://schemas.microsoft.com/office/drawing/2014/main" id="{020819FE-F470-6BC3-8BF3-5BCA82977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11" y="2079931"/>
            <a:ext cx="4796852" cy="1586369"/>
          </a:xfrm>
          <a:prstGeom prst="rect">
            <a:avLst/>
          </a:prstGeom>
        </p:spPr>
      </p:pic>
      <p:pic>
        <p:nvPicPr>
          <p:cNvPr id="7" name="Obraz 6" descr="Obraz zawierający zrzut ekranu&#10;&#10;Zawartość wygenerowana przez AI może być niepoprawna.">
            <a:extLst>
              <a:ext uri="{FF2B5EF4-FFF2-40B4-BE49-F238E27FC236}">
                <a16:creationId xmlns:a16="http://schemas.microsoft.com/office/drawing/2014/main" id="{A71314B2-C201-6A8D-5D1A-D029F5649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311" y="3663326"/>
            <a:ext cx="4796852" cy="1592496"/>
          </a:xfrm>
          <a:prstGeom prst="rect">
            <a:avLst/>
          </a:prstGeom>
        </p:spPr>
      </p:pic>
      <p:pic>
        <p:nvPicPr>
          <p:cNvPr id="8" name="Obraz 7" descr="Obraz zawierający zrzut ekranu, krąg&#10;&#10;Zawartość wygenerowana przez AI może być niepoprawna.">
            <a:extLst>
              <a:ext uri="{FF2B5EF4-FFF2-40B4-BE49-F238E27FC236}">
                <a16:creationId xmlns:a16="http://schemas.microsoft.com/office/drawing/2014/main" id="{856AE5C7-0CA9-0A15-3B2E-B7FA08E2E0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311" y="5266121"/>
            <a:ext cx="4796852" cy="1584810"/>
          </a:xfrm>
          <a:prstGeom prst="rect">
            <a:avLst/>
          </a:prstGeom>
        </p:spPr>
      </p:pic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18410575-51A9-F7E5-F2CD-DA5ACC6F9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253613"/>
              </p:ext>
            </p:extLst>
          </p:nvPr>
        </p:nvGraphicFramePr>
        <p:xfrm>
          <a:off x="5733737" y="1261671"/>
          <a:ext cx="5978165" cy="24071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37854">
                  <a:extLst>
                    <a:ext uri="{9D8B030D-6E8A-4147-A177-3AD203B41FA5}">
                      <a16:colId xmlns:a16="http://schemas.microsoft.com/office/drawing/2014/main" val="3472508341"/>
                    </a:ext>
                  </a:extLst>
                </a:gridCol>
                <a:gridCol w="1004436">
                  <a:extLst>
                    <a:ext uri="{9D8B030D-6E8A-4147-A177-3AD203B41FA5}">
                      <a16:colId xmlns:a16="http://schemas.microsoft.com/office/drawing/2014/main" val="847458660"/>
                    </a:ext>
                  </a:extLst>
                </a:gridCol>
                <a:gridCol w="1825399">
                  <a:extLst>
                    <a:ext uri="{9D8B030D-6E8A-4147-A177-3AD203B41FA5}">
                      <a16:colId xmlns:a16="http://schemas.microsoft.com/office/drawing/2014/main" val="462398172"/>
                    </a:ext>
                  </a:extLst>
                </a:gridCol>
                <a:gridCol w="1610476">
                  <a:extLst>
                    <a:ext uri="{9D8B030D-6E8A-4147-A177-3AD203B41FA5}">
                      <a16:colId xmlns:a16="http://schemas.microsoft.com/office/drawing/2014/main" val="1512979639"/>
                    </a:ext>
                  </a:extLst>
                </a:gridCol>
              </a:tblGrid>
              <a:tr h="31515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Kategoria defektu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Liczba zdjęć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Accuracy (Poziom obrazu)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IoU (Poziom Pixela)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895721"/>
                  </a:ext>
                </a:extLst>
              </a:tr>
              <a:tr h="24245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bent_wire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l-PL" sz="1200">
                          <a:effectLst/>
                        </a:rPr>
                        <a:t>12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91.7%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0.396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944656"/>
                  </a:ext>
                </a:extLst>
              </a:tr>
              <a:tr h="23552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cable_swap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l-PL" sz="1200">
                          <a:effectLst/>
                        </a:rPr>
                        <a:t>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81.8%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0.370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63690"/>
                  </a:ext>
                </a:extLst>
              </a:tr>
              <a:tr h="23552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combined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l-PL" sz="1200">
                          <a:effectLst/>
                        </a:rPr>
                        <a:t>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100.0%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0.450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488574"/>
                  </a:ext>
                </a:extLst>
              </a:tr>
              <a:tr h="23552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cut_inner_insulation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l-PL" sz="1200">
                          <a:effectLst/>
                        </a:rPr>
                        <a:t>13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84.6%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0.289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044201"/>
                  </a:ext>
                </a:extLst>
              </a:tr>
              <a:tr h="2563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cut_outer_insulation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l-PL" sz="1200">
                          <a:effectLst/>
                        </a:rPr>
                        <a:t>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77.8%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0.164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086527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good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l-PL" sz="1200">
                          <a:effectLst/>
                        </a:rPr>
                        <a:t>46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80.4%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200" b="0" i="0" u="none" strike="noStrike" noProof="0">
                          <a:effectLst/>
                          <a:latin typeface="Aptos"/>
                        </a:rPr>
                        <a:t>0.804</a:t>
                      </a:r>
                      <a:endParaRPr lang="pl-PL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688153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missing_cable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l-PL" sz="1200">
                          <a:effectLst/>
                        </a:rPr>
                        <a:t>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100.0%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0.859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60865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missing_wire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l-PL" sz="1200">
                          <a:effectLst/>
                        </a:rPr>
                        <a:t>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100.0%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0.673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87120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poke_insulation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l-PL" sz="1200">
                          <a:effectLst/>
                        </a:rPr>
                        <a:t>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100.0%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</a:rPr>
                        <a:t>0.135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194528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C58E26E-B2CD-ABED-FD16-85CBE04C1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068054"/>
              </p:ext>
            </p:extLst>
          </p:nvPr>
        </p:nvGraphicFramePr>
        <p:xfrm>
          <a:off x="5421443" y="4746885"/>
          <a:ext cx="6594761" cy="1325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21181">
                  <a:extLst>
                    <a:ext uri="{9D8B030D-6E8A-4147-A177-3AD203B41FA5}">
                      <a16:colId xmlns:a16="http://schemas.microsoft.com/office/drawing/2014/main" val="1916227544"/>
                    </a:ext>
                  </a:extLst>
                </a:gridCol>
                <a:gridCol w="3373580">
                  <a:extLst>
                    <a:ext uri="{9D8B030D-6E8A-4147-A177-3AD203B41FA5}">
                      <a16:colId xmlns:a16="http://schemas.microsoft.com/office/drawing/2014/main" val="414437523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Metryka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Wynik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429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Accuracy (Poziom obrazu)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87.69%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5682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Precesion (Poziom obrazu)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89.53%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804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Recall (Poziom obrazu)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91.67%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873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IoU (Poziom Pixelal)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0.5558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9681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F1-Score (Poziom Pixela)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l-PL" sz="1200">
                          <a:effectLst/>
                          <a:latin typeface="Aptos"/>
                        </a:rPr>
                        <a:t>0.6316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963179"/>
                  </a:ext>
                </a:extLst>
              </a:tr>
            </a:tbl>
          </a:graphicData>
        </a:graphic>
      </p:graphicFrame>
      <p:sp>
        <p:nvSpPr>
          <p:cNvPr id="17" name="pole tekstowe 16">
            <a:extLst>
              <a:ext uri="{FF2B5EF4-FFF2-40B4-BE49-F238E27FC236}">
                <a16:creationId xmlns:a16="http://schemas.microsoft.com/office/drawing/2014/main" id="{5DB9346C-6DD7-8391-42A2-5A4CF13C60B6}"/>
              </a:ext>
            </a:extLst>
          </p:cNvPr>
          <p:cNvSpPr txBox="1"/>
          <p:nvPr/>
        </p:nvSpPr>
        <p:spPr>
          <a:xfrm>
            <a:off x="396784" y="1007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/>
              <a:t>Wejście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82101D2E-C3BF-00BF-5B98-F5CCA5E69CDE}"/>
              </a:ext>
            </a:extLst>
          </p:cNvPr>
          <p:cNvSpPr txBox="1"/>
          <p:nvPr/>
        </p:nvSpPr>
        <p:spPr>
          <a:xfrm>
            <a:off x="1930778" y="105272"/>
            <a:ext cx="1512758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Ground Truth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D3DE7BDF-EE39-308B-192D-FFC6346BDB07}"/>
              </a:ext>
            </a:extLst>
          </p:cNvPr>
          <p:cNvSpPr txBox="1"/>
          <p:nvPr/>
        </p:nvSpPr>
        <p:spPr>
          <a:xfrm>
            <a:off x="3544265" y="105724"/>
            <a:ext cx="110677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/>
              <a:t>Wyjście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89409F0B-AF5F-7555-6183-7848309CB0FA}"/>
              </a:ext>
            </a:extLst>
          </p:cNvPr>
          <p:cNvSpPr txBox="1"/>
          <p:nvPr/>
        </p:nvSpPr>
        <p:spPr>
          <a:xfrm>
            <a:off x="7206861" y="72202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Wyniki w kategoriach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6C8B3861-DB5C-EF39-83B3-2490223081A8}"/>
              </a:ext>
            </a:extLst>
          </p:cNvPr>
          <p:cNvSpPr txBox="1"/>
          <p:nvPr/>
        </p:nvSpPr>
        <p:spPr>
          <a:xfrm>
            <a:off x="7451020" y="432670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Wyniki Ogólne</a:t>
            </a:r>
          </a:p>
        </p:txBody>
      </p:sp>
    </p:spTree>
    <p:extLst>
      <p:ext uri="{BB962C8B-B14F-4D97-AF65-F5344CB8AC3E}">
        <p14:creationId xmlns:p14="http://schemas.microsoft.com/office/powerpoint/2010/main" val="363104260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Panoramiczny</PresentationFormat>
  <Slides>2</Slides>
  <Notes>0</Notes>
  <HiddenSlides>0</HiddenSlide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3" baseType="lpstr">
      <vt:lpstr>Motyw pakietu Office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296</cp:revision>
  <dcterms:created xsi:type="dcterms:W3CDTF">2026-03-30T17:57:57Z</dcterms:created>
  <dcterms:modified xsi:type="dcterms:W3CDTF">2026-03-30T19:13:13Z</dcterms:modified>
</cp:coreProperties>
</file>